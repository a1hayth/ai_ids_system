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4" y="9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b="1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AI-IDS 智能入侵检测系统</a:t>
            </a:r>
          </a:p>
          <a:p>
            <a:pPr>
              <a:spcBef>
                <a:spcPts val="800"/>
              </a:spcBef>
              <a:defRPr sz="2800">
                <a:solidFill>
                  <a:srgbClr val="FFFFFF"/>
                </a:solidFill>
              </a:defRPr>
            </a:pPr>
            <a:r>
              <a:t>流量采集与流量特征提取模块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DDFF"/>
                </a:solidFill>
              </a:defRPr>
            </a:pPr>
            <a:r>
              <a:t>课程设计个人工作汇报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10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dirty="0"/>
              <a:t>汇报日期：2026年06月2</a:t>
            </a:r>
            <a:r>
              <a:rPr lang="en-US" dirty="0"/>
              <a:t>5</a:t>
            </a:r>
            <a:r>
              <a:rPr dirty="0"/>
              <a:t>日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dirty="0" err="1"/>
              <a:t>项目名称：AI-IDS</a:t>
            </a:r>
            <a:r>
              <a:rPr dirty="0"/>
              <a:t> </a:t>
            </a:r>
            <a:r>
              <a:rPr dirty="0" err="1"/>
              <a:t>智能入侵检测系统</a:t>
            </a:r>
            <a:endParaRPr dirty="0"/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dirty="0" err="1"/>
              <a:t>技术栈：Python</a:t>
            </a:r>
            <a:r>
              <a:rPr dirty="0"/>
              <a:t> · </a:t>
            </a:r>
            <a:r>
              <a:rPr dirty="0" err="1"/>
              <a:t>Scapy</a:t>
            </a:r>
            <a:r>
              <a:rPr dirty="0"/>
              <a:t> · </a:t>
            </a:r>
            <a:r>
              <a:rPr dirty="0" err="1"/>
              <a:t>XGBoost</a:t>
            </a:r>
            <a:r>
              <a:rPr dirty="0"/>
              <a:t> ·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188720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07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项目背景与目标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367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系统整体架构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48256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665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网络流量采集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478024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96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协议深度解析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907791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26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域名精准过滤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337559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5584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流量特征提取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767328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8561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持续监控引擎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197096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153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数据库设计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626864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4515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AI 检测管线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056631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端到端数据流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486399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046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rPr dirty="0" err="1"/>
              <a:t>技术亮点总结</a:t>
            </a:r>
            <a:endParaRPr dirty="0"/>
          </a:p>
        </p:txBody>
      </p:sp>
      <p:sp>
        <p:nvSpPr>
          <p:cNvPr id="28" name="Oval 27"/>
          <p:cNvSpPr/>
          <p:nvPr/>
        </p:nvSpPr>
        <p:spPr>
          <a:xfrm>
            <a:off x="914400" y="5916168"/>
            <a:ext cx="320040" cy="320040"/>
          </a:xfrm>
          <a:prstGeom prst="ellipse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93445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总结与展望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Background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网络安全威胁日益复杂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传统防火墙难以应对应用层攻击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人工分析海量流量不现实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需要自动化、智能化的检测方案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课程设计要求完整的工程实践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项目目标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构建完整的网络入侵检测系统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实现实时流量采集与协议解析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提取多维流量特征供 AI 分析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结合统计模型与规则引擎精准判攻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提供可视化管理平台便于运维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75304"/>
            <a:ext cx="1463040" cy="292608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 err="1"/>
              <a:t>个人分工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3986784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负责流量采集层的全部设计与开发</a:t>
            </a:r>
            <a:endParaRPr dirty="0"/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涵盖网络抓包、协议解析、域名过滤、特征提取、持续监控五大模块</a:t>
            </a:r>
            <a:endParaRPr dirty="0"/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设计</a:t>
            </a:r>
            <a:r>
              <a:rPr dirty="0"/>
              <a:t> </a:t>
            </a:r>
            <a:r>
              <a:rPr dirty="0" err="1"/>
              <a:t>flow_features</a:t>
            </a:r>
            <a:r>
              <a:rPr dirty="0"/>
              <a:t> </a:t>
            </a:r>
            <a:r>
              <a:rPr dirty="0" err="1"/>
              <a:t>数据库表结构并实现自动迁移机制</a:t>
            </a:r>
            <a:endParaRPr dirty="0"/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开发</a:t>
            </a:r>
            <a:r>
              <a:rPr dirty="0"/>
              <a:t> AI </a:t>
            </a:r>
            <a:r>
              <a:rPr dirty="0" err="1"/>
              <a:t>持续检测管线，实现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 + </a:t>
            </a:r>
            <a:r>
              <a:rPr dirty="0" err="1"/>
              <a:t>正则双引擎融合决策</a:t>
            </a:r>
            <a:endParaRPr dirty="0"/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总计</a:t>
            </a:r>
            <a:r>
              <a:rPr dirty="0"/>
              <a:t> 7 个核心模块，5000+ </a:t>
            </a:r>
            <a:r>
              <a:rPr dirty="0" err="1"/>
              <a:t>行代码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系统整体架构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1"/>
            <a:ext cx="1322173" cy="778476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数据采集层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23444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实时网络抓包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23444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协议深度解析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域名精准过滤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流特征提取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23444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持续监控编排</a:t>
            </a:r>
          </a:p>
        </p:txBody>
      </p:sp>
      <p:sp>
        <p:nvSpPr>
          <p:cNvPr id="12" name="Right Arrow 11"/>
          <p:cNvSpPr/>
          <p:nvPr/>
        </p:nvSpPr>
        <p:spPr>
          <a:xfrm rot="5400000">
            <a:off x="926262" y="2047637"/>
            <a:ext cx="384047" cy="202404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1322173" cy="778477"/>
          </a:xfrm>
          <a:prstGeom prst="roundRect">
            <a:avLst/>
          </a:prstGeom>
          <a:solidFill>
            <a:srgbClr val="6C3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AI 推理层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51460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统计模型推理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51460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正则载荷扫描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51460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双引擎融合决策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14600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自动生成判定依据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1322173" cy="776003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Web 展示层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79475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实时仪表盘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79475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攻击告警列表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379475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流量趋势图表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9475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IP 封禁管理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83479"/>
            <a:ext cx="1322173" cy="776003"/>
          </a:xfrm>
          <a:prstGeom prst="roundRect">
            <a:avLst/>
          </a:prstGeom>
          <a:solidFill>
            <a:srgbClr val="E4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基础设施层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507491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MySQL 数据存储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507491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Npcap 抓包驱动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507491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Flask Web 框架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074919"/>
            <a:ext cx="1234440" cy="384048"/>
          </a:xfrm>
          <a:prstGeom prst="round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</a:defRPr>
            </a:pPr>
            <a:r>
              <a:t>ECharts 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600"/>
              </a:spcAft>
              <a:defRPr sz="900">
                <a:solidFill>
                  <a:srgbClr val="888888"/>
                </a:solidFill>
              </a:defRPr>
            </a:pPr>
            <a:r>
              <a:t>四层架构各司其职，层间通过标准数据结构传递，支持独立测试与并行开发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4 / 14</a:t>
            </a:r>
          </a:p>
        </p:txBody>
      </p:sp>
      <p:sp>
        <p:nvSpPr>
          <p:cNvPr id="33" name="Right Arrow 11">
            <a:extLst>
              <a:ext uri="{FF2B5EF4-FFF2-40B4-BE49-F238E27FC236}">
                <a16:creationId xmlns:a16="http://schemas.microsoft.com/office/drawing/2014/main" id="{4E633548-EE58-196C-7DD5-E2E079EBBFF6}"/>
              </a:ext>
            </a:extLst>
          </p:cNvPr>
          <p:cNvSpPr/>
          <p:nvPr/>
        </p:nvSpPr>
        <p:spPr>
          <a:xfrm rot="5400000">
            <a:off x="926262" y="3350041"/>
            <a:ext cx="384047" cy="202404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11">
            <a:extLst>
              <a:ext uri="{FF2B5EF4-FFF2-40B4-BE49-F238E27FC236}">
                <a16:creationId xmlns:a16="http://schemas.microsoft.com/office/drawing/2014/main" id="{F33D42B3-43FB-0FAC-46DF-E5314B865B67}"/>
              </a:ext>
            </a:extLst>
          </p:cNvPr>
          <p:cNvSpPr/>
          <p:nvPr/>
        </p:nvSpPr>
        <p:spPr>
          <a:xfrm rot="5400000">
            <a:off x="926262" y="4630198"/>
            <a:ext cx="384047" cy="202404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网络流量采集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Traffic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5953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rPr dirty="0"/>
              <a:t>  </a:t>
            </a:r>
            <a:r>
              <a:rPr dirty="0" err="1"/>
              <a:t>实时监听网卡流量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19624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rPr dirty="0"/>
              <a:t>  </a:t>
            </a:r>
            <a:r>
              <a:rPr dirty="0" err="1"/>
              <a:t>支持</a:t>
            </a:r>
            <a:r>
              <a:rPr dirty="0"/>
              <a:t> TCP / UDP / ICMP </a:t>
            </a:r>
            <a:r>
              <a:rPr dirty="0" err="1"/>
              <a:t>协议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2236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rPr dirty="0"/>
              <a:t> </a:t>
            </a:r>
            <a:r>
              <a:rPr dirty="0" err="1"/>
              <a:t>自定义过滤规则与目标监控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20974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rPr lang="zh-CN" altLang="en-US" dirty="0"/>
              <a:t> </a:t>
            </a:r>
            <a:r>
              <a:rPr dirty="0"/>
              <a:t> </a:t>
            </a:r>
            <a:r>
              <a:rPr dirty="0" err="1"/>
              <a:t>数据自动缓存与</a:t>
            </a:r>
            <a:r>
              <a:rPr dirty="0"/>
              <a:t> CSV </a:t>
            </a:r>
            <a:r>
              <a:rPr dirty="0" err="1"/>
              <a:t>导出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42887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rPr dirty="0"/>
              <a:t>  </a:t>
            </a:r>
            <a:r>
              <a:rPr dirty="0" err="1"/>
              <a:t>线程安全设计，后台持续运行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解决什么问题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为整个 IDS 系统提供原始数据源</a:t>
            </a:r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在系统底层完成流量筛选，减少后续处理压力</a:t>
            </a:r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输出标准化数据格式供下游模块消费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0972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工作流程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691640"/>
            <a:ext cx="2743200" cy="50292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网卡原始流量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766560" y="221284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0" y="2606040"/>
            <a:ext cx="2743200" cy="50292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BPF 内核过滤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766560" y="312724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0" y="3520440"/>
            <a:ext cx="2743200" cy="50292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数据包结构化解析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766560" y="404164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0" y="4434840"/>
            <a:ext cx="2743200" cy="50292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缓存 + CSV 导出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5303520"/>
            <a:ext cx="3840480" cy="109728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流量采集运行截图</a:t>
            </a:r>
            <a:br/>
            <a:r>
              <a:t>（终端输出 + 统计信息）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协议深度解析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Protocol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支持协议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网络层：IP（含 TTL 提取）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传输层：TCP · UDP · ICMP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应用层：HTTP（请求方法 + 头部字段）</a:t>
            </a:r>
          </a:p>
          <a:p>
            <a:pPr>
              <a:lnSpc>
                <a:spcPts val="192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加密层：TLS（握手类型 + SNI 提取）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解析能力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HTTP：提取请求方法、Host、URI、User-Agent 等完整头部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TLS：识别 ClientHello / ServerHello，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   按 RFC 5246 标准逐字节提取 SNI 主机名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TCP：解析 SYN/ACK/FIN/RST/PSH/URG 六种标志位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ICMP：区分 Echo Request 与 Echo Reply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5156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解析流程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0" y="1600200"/>
            <a:ext cx="274320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原始数据包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766560" y="202996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274320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 层提取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766560" y="280720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0" y="3154680"/>
            <a:ext cx="13258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TCP 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154680"/>
            <a:ext cx="13258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</a:rPr>
              <a:t>UDP </a:t>
            </a:r>
            <a:r>
              <a:rPr sz="900" b="1" dirty="0" err="1">
                <a:solidFill>
                  <a:srgbClr val="FFFFFF"/>
                </a:solidFill>
              </a:rPr>
              <a:t>解析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06640" y="3154680"/>
            <a:ext cx="13258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ICMP 解析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766560" y="358444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0" y="3931920"/>
            <a:ext cx="182880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HTTP 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931920"/>
            <a:ext cx="182880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TLS 检测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766560" y="4361688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0" y="4709160"/>
            <a:ext cx="274320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输出统一解析结果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46320" y="5394960"/>
            <a:ext cx="3840480" cy="100584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协议解析运行截图</a:t>
            </a:r>
            <a:br/>
            <a:r>
              <a:t>（终端表格输出示例）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域名精准过滤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Domain-Based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为什么需要域名过滤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目标网站 IP 可能动态变化（CDN / 负载均衡）</a:t>
            </a:r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仅靠 IP 过滤会丢失 TLS 加密流量中的域名信息</a:t>
            </a:r>
          </a:p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本地部署场景需要双向流量完整捕获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三级过滤策略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第一级 — 内核层预过滤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域名 DNS 解析为 IP → 注入内核 BPF 过滤器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在内核层面尽早丢弃无关流量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第二级 — HTTP Host 头匹配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扫描数据载荷中的 Host 字段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支持子域名后缀匹配（如 api.example.com）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第三级 — TLS SNI 扩展匹配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解析 TLS ClientHello 握手包</a:t>
            </a:r>
          </a:p>
          <a:p>
            <a:pPr>
              <a:lnSpc>
                <a:spcPts val="1430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  提取 SNI 扩展中的目标主机名进行比对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9923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205" y="1802233"/>
            <a:ext cx="3216464" cy="51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600"/>
              </a:spcAft>
              <a:defRPr sz="1100">
                <a:solidFill>
                  <a:srgbClr val="2D7D46"/>
                </a:solidFill>
              </a:defRPr>
            </a:pPr>
            <a:r>
              <a:rPr lang="en-US" dirty="0"/>
              <a:t>  </a:t>
            </a:r>
            <a:r>
              <a:rPr dirty="0" err="1"/>
              <a:t>过滤后仅保留目标网站相关流量，大幅降低后续处理压力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840480" y="1138057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过滤流程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64208"/>
            <a:ext cx="2560320" cy="3657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收到数据包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572000" y="2048256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2350008"/>
            <a:ext cx="2560320" cy="3657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Tier1: BPF IP 过滤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572000" y="2734056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83280" y="3035808"/>
            <a:ext cx="2560320" cy="3657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Tier2: HTTP Host 匹配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572000" y="3419856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83280" y="3721608"/>
            <a:ext cx="2560320" cy="3657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Tier3: TLS SNI 匹配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4105656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83280" y="4407408"/>
            <a:ext cx="2560320" cy="3657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连接追踪缓存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572000" y="4791456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83280" y="5093208"/>
            <a:ext cx="2560320" cy="365760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决策：放行 / 丢弃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流量特征提取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Feature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将逐包数据聚合为双向流（Flow）记录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从原始数据包中提炼出 AI 可理解的特征向量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一个流 = 一次完整的网络会话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怎么做 — 双向流聚合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按五元组（源IP</a:t>
            </a:r>
            <a:r>
              <a:rPr dirty="0"/>
              <a:t> + </a:t>
            </a:r>
            <a:r>
              <a:rPr dirty="0" err="1"/>
              <a:t>目的IP</a:t>
            </a:r>
            <a:r>
              <a:rPr dirty="0"/>
              <a:t> + </a:t>
            </a:r>
            <a:r>
              <a:rPr dirty="0" err="1"/>
              <a:t>源端口</a:t>
            </a:r>
            <a:r>
              <a:rPr dirty="0"/>
              <a:t> + </a:t>
            </a:r>
            <a:r>
              <a:rPr dirty="0" err="1"/>
              <a:t>目的端口</a:t>
            </a:r>
            <a:r>
              <a:rPr dirty="0"/>
              <a:t> + </a:t>
            </a:r>
            <a:r>
              <a:rPr dirty="0" err="1"/>
              <a:t>协议）建立会话</a:t>
            </a:r>
            <a:endParaRPr dirty="0"/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自动归一化双向流量：A→B</a:t>
            </a:r>
            <a:r>
              <a:rPr dirty="0"/>
              <a:t> 与 B→A </a:t>
            </a:r>
            <a:r>
              <a:rPr dirty="0" err="1"/>
              <a:t>归入同一条流</a:t>
            </a:r>
            <a:endParaRPr dirty="0"/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 err="1"/>
              <a:t>实时统计：包数、字节数、到达间隔、TCP</a:t>
            </a:r>
            <a:r>
              <a:rPr dirty="0"/>
              <a:t> </a:t>
            </a:r>
            <a:r>
              <a:rPr dirty="0" err="1"/>
              <a:t>标志等</a:t>
            </a:r>
            <a:endParaRPr dirty="0"/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rPr dirty="0"/>
              <a:t>流超时自动关闭（60 </a:t>
            </a:r>
            <a:r>
              <a:rPr dirty="0" err="1"/>
              <a:t>秒无活动）或</a:t>
            </a:r>
            <a:r>
              <a:rPr dirty="0"/>
              <a:t> FIN/RST </a:t>
            </a:r>
            <a:r>
              <a:rPr dirty="0" err="1"/>
              <a:t>触发结束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486400" y="352044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输出</a:t>
            </a:r>
            <a:r>
              <a:rPr sz="900" b="1" dirty="0">
                <a:solidFill>
                  <a:srgbClr val="FFFFFF"/>
                </a:solidFill>
              </a:rPr>
              <a:t> — 15 </a:t>
            </a:r>
            <a:r>
              <a:rPr sz="900" b="1" dirty="0" err="1">
                <a:solidFill>
                  <a:srgbClr val="FFFFFF"/>
                </a:solidFill>
              </a:rPr>
              <a:t>维特征向量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88074" y="827532"/>
            <a:ext cx="1965960" cy="12344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5234" y="900684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基础统计 (6维)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5234" y="123901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rPr dirty="0" err="1"/>
              <a:t>协议号</a:t>
            </a:r>
            <a:r>
              <a:rPr dirty="0"/>
              <a:t> · </a:t>
            </a:r>
            <a:r>
              <a:rPr dirty="0" err="1"/>
              <a:t>持续时间</a:t>
            </a:r>
            <a:endParaRPr dirty="0"/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rPr dirty="0"/>
              <a:t>前/</a:t>
            </a:r>
            <a:r>
              <a:rPr dirty="0" err="1"/>
              <a:t>后向包数</a:t>
            </a:r>
            <a:endParaRPr dirty="0"/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rPr dirty="0"/>
              <a:t>前/</a:t>
            </a:r>
            <a:r>
              <a:rPr dirty="0" err="1"/>
              <a:t>后向最大包长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288074" y="2135124"/>
            <a:ext cx="1965960" cy="12344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5233" y="2208276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流量速率 (4维)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5233" y="2546604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rPr dirty="0"/>
              <a:t>前/</a:t>
            </a:r>
            <a:r>
              <a:rPr dirty="0" err="1"/>
              <a:t>后向平均包长</a:t>
            </a:r>
            <a:endParaRPr dirty="0"/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rPr dirty="0" err="1"/>
              <a:t>字节速率</a:t>
            </a:r>
            <a:r>
              <a:rPr dirty="0"/>
              <a:t> · </a:t>
            </a:r>
            <a:r>
              <a:rPr dirty="0" err="1"/>
              <a:t>包速率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5288074" y="3433572"/>
            <a:ext cx="1965960" cy="12344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5234" y="3506724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时序特征 (3维)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5234" y="3845052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前向到达间隔均值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后向到达间隔均值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8074" y="4796028"/>
            <a:ext cx="1965960" cy="12344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25235" y="4869180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标志统计 (2维)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5235" y="5207508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SYN 标志计数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FIN/RST 标志计数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持续监控引擎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Continuous Monitoring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核心职责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串联采集 → 解析 → 特征提取 → 数据库全流程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实现无人值守的长期后台运行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自动处理 DNS 变更、数据库断连等异常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4612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运行机制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启动阶段：DNS 解析目标 → 初始化数据库 → 启动抓包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运行循环：每秒检查新数据包 → 增量解析 → 送入流管理器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定时写入：每 60 秒回收完成的流 → 批量写入 MySQL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异常恢复：数据库断连自动重试，DNS 记录变更自动刷新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优雅退出：停止抓包 → 最终数据回收 → 打印运行摘要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43000"/>
            <a:ext cx="3017520" cy="210312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监控引擎运行截图</a:t>
            </a:r>
            <a:br/>
            <a:r>
              <a:t>（控制台实时状态面板）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520440"/>
            <a:ext cx="3017520" cy="210312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数据库表数据截图</a:t>
            </a:r>
            <a:br/>
            <a:r>
              <a:t>（flow_features 查询结果）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Database — flow_features 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设计思路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一张表承载完整流量画像 — 22 个字段覆盖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元信息 · 统计特征 · 载荷数据三类字段分层</a:t>
            </a:r>
          </a:p>
          <a:p>
            <a:pPr>
              <a:lnSpc>
                <a:spcPts val="186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4 个索引加速时间/主机/IP/协议维度查询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651760" cy="155448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📋 元信息 (3列)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自增主键 + 创建时间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目标主机域名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目标 IP 地址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2651760" cy="155448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3090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📊 统计特征 (15列)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基础流量统计 (6维)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速率与均值 (4维)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时序与标志 (5维)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17520"/>
            <a:ext cx="2651760" cy="155448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DC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3090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  📦 载荷数据 (5列)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42900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HTTP 原始载荷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请求 URI 与方法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Host + User-Agent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工程特性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自动迁移：检测已有列 → 仅补充缺失列，升级零停机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AI 状态追踪：ai_processed + predict_time 字段标记分析进度</a:t>
            </a:r>
          </a:p>
          <a:p>
            <a:pPr>
              <a:lnSpc>
                <a:spcPts val="1539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支持正则引擎：保留 HTTP 载荷供特征库精准匹配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800600"/>
            <a:ext cx="3200400" cy="146304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数据库 ER 图</a:t>
            </a:r>
            <a:br/>
            <a:r>
              <a:t>（flow_features 表结构）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AI 检测管线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AI Detection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检测流程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5544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数据库轮询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每 60 秒查询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未分析的新记录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1737360"/>
            <a:ext cx="9144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1645920"/>
            <a:ext cx="15544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统计模型推理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8839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XGBoost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输出攻击类型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与置信度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3320" y="1737360"/>
            <a:ext cx="9144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40480" y="1645920"/>
            <a:ext cx="15544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正则载荷扫描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特征库匹配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HTTP 载荷中的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攻击签名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40680" y="1737360"/>
            <a:ext cx="9144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77840" y="1645920"/>
            <a:ext cx="15544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融合决策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23559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双引擎结果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智能仲裁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输出最终判定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78040" y="1737360"/>
            <a:ext cx="9144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0" y="1645920"/>
            <a:ext cx="1554480" cy="41148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结果写入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60920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存入告警日志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标记已分析</a:t>
            </a:r>
          </a:p>
          <a:p>
            <a:pPr>
              <a:lnSpc>
                <a:spcPts val="1105"/>
              </a:lnSpc>
              <a:spcAft>
                <a:spcPts val="600"/>
              </a:spcAft>
              <a:defRPr sz="850">
                <a:solidFill>
                  <a:srgbClr val="2D2D2D"/>
                </a:solidFill>
              </a:defRPr>
            </a:pPr>
            <a:r>
              <a:t>Web 可实时查看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融合策略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仅统计模型命中 → 输出模型判定的攻击类型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仅正则命中 → 以正则结果覆盖（更精确的攻击分类）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两者同时命中 → 正则类型优先，双来源标注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自动生成中文判定理由，解释检测依据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运行模式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持续模式：后台常驻运行，适用于生产环境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单次模式：检测一次后退出，适用于调试与演示</a:t>
            </a:r>
          </a:p>
          <a:p>
            <a:pPr>
              <a:lnSpc>
                <a:spcPts val="1595"/>
              </a:lnSpc>
              <a:spcAft>
                <a:spcPts val="600"/>
              </a:spcAft>
              <a:defRPr sz="1100">
                <a:solidFill>
                  <a:srgbClr val="2D2D2D"/>
                </a:solidFill>
              </a:defRPr>
            </a:pPr>
            <a:r>
              <a:t>全量重检：重置所有记录后重新分析，适用于模型升级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200400"/>
            <a:ext cx="3017520" cy="182880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AI 检测运行截图</a:t>
            </a:r>
            <a:br/>
            <a:r>
              <a:t>（终端输出: 预测类型 / 置信度 / 风险等级）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5257800"/>
            <a:ext cx="3017520" cy="1097280"/>
          </a:xfrm>
          <a:prstGeom prst="rect">
            <a:avLst/>
          </a:prstGeom>
          <a:solidFill>
            <a:srgbClr val="FAFAFC"/>
          </a:solidFill>
          <a:ln w="19050">
            <a:solidFill>
              <a:srgbClr val="1A56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📷  告警日志表截图</a:t>
            </a:r>
            <a:br/>
            <a:r>
              <a:t>（traffic_logs 查询结果）</a:t>
            </a:r>
          </a:p>
          <a:p>
            <a:pPr algn="ctr">
              <a:defRPr sz="800">
                <a:solidFill>
                  <a:srgbClr val="888888"/>
                </a:solidFill>
              </a:defRPr>
            </a:pPr>
            <a:r>
              <a:t>（请在此处插入截图）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端到端数据流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417320" cy="5943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网卡流量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828800" y="1353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03120" y="1188720"/>
            <a:ext cx="1417320" cy="5943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实时抓包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566160" y="1353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0" y="1188720"/>
            <a:ext cx="1417320" cy="5943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协议解析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1353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77840" y="1188720"/>
            <a:ext cx="1417320" cy="5943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域名过滤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40879" y="1353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1417320" cy="594360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特征提取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60120" y="1828800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2697480" y="1828800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434840" y="1828800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6172199" y="1828800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909560" y="1828800"/>
            <a:ext cx="182880" cy="3200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2331720"/>
            <a:ext cx="1417320" cy="594360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监控引擎</a:t>
            </a:r>
            <a:br/>
            <a:r>
              <a:t>写入数据库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28800" y="2496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103120" y="2331720"/>
            <a:ext cx="1417320" cy="594360"/>
          </a:xfrm>
          <a:prstGeom prst="roundRect">
            <a:avLst/>
          </a:prstGeom>
          <a:solidFill>
            <a:srgbClr val="6C3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统计模型</a:t>
            </a:r>
            <a:br/>
            <a:r>
              <a:t>推理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566160" y="2496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0480" y="2331720"/>
            <a:ext cx="1417320" cy="594360"/>
          </a:xfrm>
          <a:prstGeom prst="roundRect">
            <a:avLst/>
          </a:prstGeom>
          <a:solidFill>
            <a:srgbClr val="6C3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正则引擎</a:t>
            </a:r>
            <a:br/>
            <a:r>
              <a:t>载荷扫描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303520" y="2496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77840" y="2331720"/>
            <a:ext cx="1417320" cy="594360"/>
          </a:xfrm>
          <a:prstGeom prst="roundRect">
            <a:avLst/>
          </a:prstGeom>
          <a:solidFill>
            <a:srgbClr val="E4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融合决策</a:t>
            </a:r>
            <a:br/>
            <a:r>
              <a:t>写入告警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40879" y="2496312"/>
            <a:ext cx="228600" cy="256032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0" y="2331720"/>
            <a:ext cx="1417320" cy="594360"/>
          </a:xfrm>
          <a:prstGeom prst="roundRect">
            <a:avLst/>
          </a:prstGeom>
          <a:solidFill>
            <a:srgbClr val="E4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 仪表盘</a:t>
            </a:r>
            <a:br/>
            <a:r>
              <a:t>实时展示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832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阶段一：数据采集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网卡 → 抓包 → 解析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→ 过滤 → 特征提取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→ 写入数据库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全流程约 60 秒/批次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3832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阶段二：AI</a:t>
            </a:r>
            <a:r>
              <a:rPr sz="900" b="1" dirty="0">
                <a:solidFill>
                  <a:srgbClr val="FFFFFF"/>
                </a:solidFill>
              </a:rPr>
              <a:t> </a:t>
            </a:r>
            <a:r>
              <a:rPr sz="900" b="1" dirty="0" err="1">
                <a:solidFill>
                  <a:srgbClr val="FFFFFF"/>
                </a:solidFill>
              </a:rPr>
              <a:t>分析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0" y="3703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轮询未分析记录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双引擎并行推理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智能融合决策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写入告警日志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383280"/>
            <a:ext cx="1463040" cy="292608"/>
          </a:xfrm>
          <a:prstGeom prst="roundRect">
            <a:avLst/>
          </a:prstGeom>
          <a:solidFill>
            <a:srgbClr val="265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</a:rPr>
              <a:t>阶段三：展示响应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26480" y="3703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Web 仪表盘实时刷新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攻击趋势可视化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支持 IP 一键封禁</a:t>
            </a:r>
          </a:p>
          <a:p>
            <a:pPr>
              <a:lnSpc>
                <a:spcPts val="14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日志检索与回溯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029200"/>
            <a:ext cx="1463040" cy="7772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6DB"/>
                </a:solidFill>
              </a:defRPr>
            </a:pPr>
            <a:r>
              <a:t>7</a:t>
            </a:r>
          </a:p>
          <a:p>
            <a:pPr algn="ctr">
              <a:defRPr sz="900">
                <a:solidFill>
                  <a:srgbClr val="2D2D2D"/>
                </a:solidFill>
              </a:defRPr>
            </a:pPr>
            <a:r>
              <a:t>核心模块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5029200"/>
            <a:ext cx="1463040" cy="7772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6DB"/>
                </a:solidFill>
              </a:defRPr>
            </a:pPr>
            <a:r>
              <a:t>5000+</a:t>
            </a:r>
          </a:p>
          <a:p>
            <a:pPr algn="ctr">
              <a:defRPr sz="900">
                <a:solidFill>
                  <a:srgbClr val="2D2D2D"/>
                </a:solidFill>
              </a:defRPr>
            </a:pPr>
            <a:r>
              <a:t>行代码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5029200"/>
            <a:ext cx="1463040" cy="7772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6DB"/>
                </a:solidFill>
              </a:defRPr>
            </a:pPr>
            <a:r>
              <a:t>15</a:t>
            </a:r>
          </a:p>
          <a:p>
            <a:pPr algn="ctr">
              <a:defRPr sz="900">
                <a:solidFill>
                  <a:srgbClr val="2D2D2D"/>
                </a:solidFill>
              </a:defRPr>
            </a:pPr>
            <a:r>
              <a:t>维特征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79" y="5029200"/>
            <a:ext cx="1463040" cy="7772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6DB"/>
                </a:solidFill>
              </a:defRPr>
            </a:pPr>
            <a:r>
              <a:t>22</a:t>
            </a:r>
          </a:p>
          <a:p>
            <a:pPr algn="ctr">
              <a:defRPr sz="900">
                <a:solidFill>
                  <a:srgbClr val="2D2D2D"/>
                </a:solidFill>
              </a:defRPr>
            </a:pPr>
            <a:r>
              <a:t>数据库字段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5029200"/>
            <a:ext cx="1463040" cy="777240"/>
          </a:xfrm>
          <a:prstGeom prst="roundRect">
            <a:avLst/>
          </a:prstGeom>
          <a:solidFill>
            <a:srgbClr val="F5F7FD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6DB"/>
                </a:solidFill>
              </a:defRPr>
            </a:pPr>
            <a:r>
              <a:t>60s</a:t>
            </a:r>
          </a:p>
          <a:p>
            <a:pPr algn="ctr">
              <a:defRPr sz="900">
                <a:solidFill>
                  <a:srgbClr val="2D2D2D"/>
                </a:solidFill>
              </a:defRPr>
            </a:pPr>
            <a:r>
              <a:t>检测周期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t>技术亮点总结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Technical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🧩  模块化分层架构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采集→解析→特征→AI→展示，层层解耦。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每层可独立开发、测试、替换。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📐  双向流归一化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4630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自动将 A→B 与 B→A 映射为同一会话。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消除方向歧义，AI 分析更准确。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🔀  双引擎融合决策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统计模型负责异常发现，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正则引擎负责精准识别。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两者互补，降低误报与漏报。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🔄  增量统计算法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788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无需缓存全部数据包即可计算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均值、速率、到达间隔等特征。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内存占用恒定，适合长期运行。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📋  数据库自动迁移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表结构升级时自动检测并补充缺失列。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无需手动执行 SQL，部署零停机。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94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🛡️  全链路异常容错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1148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从网络抓包到数据库写入，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每个环节均有自动恢复机制。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单点故障不影响整体运行。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⏱️  域名三级过滤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4067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内核 BPF → HTTP Host → TLS SNI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t>逐级精准过滤，大幅减少无效处理。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120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A56DB"/>
                </a:solidFill>
              </a:defRPr>
            </a:pPr>
            <a:r>
              <a:t>🧪  完善的自测体系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544067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rPr dirty="0" err="1"/>
              <a:t>每个模块内置可运行的自测代码</a:t>
            </a:r>
            <a:r>
              <a:rPr dirty="0"/>
              <a:t>。</a:t>
            </a:r>
          </a:p>
          <a:p>
            <a:pPr>
              <a:lnSpc>
                <a:spcPts val="1235"/>
              </a:lnSpc>
              <a:spcAft>
                <a:spcPts val="600"/>
              </a:spcAft>
              <a:defRPr sz="950">
                <a:solidFill>
                  <a:srgbClr val="2D2D2D"/>
                </a:solidFill>
              </a:defRPr>
            </a:pPr>
            <a:r>
              <a:rPr dirty="0" err="1"/>
              <a:t>无需外部依赖即可验证功能正确性</a:t>
            </a:r>
            <a:r>
              <a:rPr dirty="0"/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56DB"/>
                </a:solidFill>
              </a:defRPr>
            </a:pPr>
            <a:r>
              <a:rPr dirty="0" err="1"/>
              <a:t>总结与展望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9144000" cy="27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4023360" cy="4389120"/>
          </a:xfrm>
          <a:prstGeom prst="roundRect">
            <a:avLst/>
          </a:prstGeom>
          <a:solidFill>
            <a:srgbClr val="EEF7F0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2D7D46"/>
                </a:solidFill>
              </a:defRPr>
            </a:pPr>
            <a:r>
              <a:t>✅  已完成工作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📡 流量采集层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实时网络抓包引擎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多协议深度解析（HTTP/TLS/ICMP）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三级域名精准过滤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15 维流特征提取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全流程持续监控引擎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测试流量生成工具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🤖 AI 推理层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XGBoost + 正则双引擎检测管线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智能融合决策与自动判定理由生成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🗄️ 数据层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flow_features 表设计与自动迁移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023360" cy="4389120"/>
          </a:xfrm>
          <a:prstGeom prst="roundRect">
            <a:avLst/>
          </a:prstGeom>
          <a:solidFill>
            <a:srgbClr val="FDF4EC"/>
          </a:solidFill>
          <a:ln w="12700">
            <a:solidFill>
              <a:srgbClr val="E46A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E46A1B"/>
                </a:solidFill>
              </a:defRPr>
            </a:pPr>
            <a:r>
              <a:t>🔮  后续计划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📡 采集层增强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支持 IPv6 流量采集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增加 DNS/DHCP 协议解析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📊 特征层优化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引入熵、方差等高级统计特征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增加多时间窗口聚合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🤖 AI 引擎升级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集成在线增量学习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扩充正则特征规则库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引入隔离森林等异常检测模型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endParaRPr/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🏗️ 工程化完善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Docker 容器化部署</a:t>
            </a:r>
          </a:p>
          <a:p>
            <a:pPr>
              <a:lnSpc>
                <a:spcPts val="1350"/>
              </a:lnSpc>
              <a:spcAft>
                <a:spcPts val="600"/>
              </a:spcAft>
              <a:defRPr sz="1000">
                <a:solidFill>
                  <a:srgbClr val="2D2D2D"/>
                </a:solidFill>
              </a:defRPr>
            </a:pPr>
            <a:r>
              <a:t>   · 性能压测与优化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🙏  感谢各位老师和同学的指导与帮助！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A00AC0DF322C36C8F1C22EDA3561CF52C6C08B4FB5642AF40E2F9C43C52BB63E" val="[{&quot;GradientColorId&quot;:&quot;&quot;,&quot;IsFree&quot;:true,&quot;IsGradient&quot;:false,&quot;ImagePath&quot;:&quot;&quot;,&quot;GradientColor&quot;:null,&quot;SimpleColor&quot;:&quot;#265A99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1110</Words>
  <Application>Microsoft Office PowerPoint</Application>
  <PresentationFormat>全屏显示(4:3)</PresentationFormat>
  <Paragraphs>361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hayth Al</cp:lastModifiedBy>
  <cp:revision>3</cp:revision>
  <dcterms:created xsi:type="dcterms:W3CDTF">2013-01-27T09:14:16Z</dcterms:created>
  <dcterms:modified xsi:type="dcterms:W3CDTF">2026-06-23T14:04:14Z</dcterms:modified>
  <cp:category/>
</cp:coreProperties>
</file>